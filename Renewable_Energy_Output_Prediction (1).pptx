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943600" cy="5943600"/>
          </a:xfrm>
          <a:prstGeom prst="ellipse">
            <a:avLst/>
          </a:prstGeom>
          <a:solidFill>
            <a:srgbClr val="EAF5F0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280160"/>
            <a:ext cx="4114800" cy="4114800"/>
          </a:xfrm>
          <a:prstGeom prst="ellipse">
            <a:avLst/>
          </a:prstGeom>
          <a:solidFill>
            <a:srgbClr val="F4F9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ENERGY FORECASTING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210312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Output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2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</a:t>
            </a:r>
            <a:pPr indent="0" marL="0">
              <a:buNone/>
            </a:pPr>
            <a:r>
              <a:rPr lang="en-US" sz="2400" b="1" i="1" dirty="0">
                <a:solidFill>
                  <a:srgbClr val="0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pPr indent="0" marL="0">
              <a:buNone/>
            </a:pPr>
            <a:r>
              <a:rPr lang="en-US" sz="2400" i="1" dirty="0">
                <a:solidFill>
                  <a:srgbClr val="22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</a:t>
            </a:r>
            <a:pPr indent="0" marL="0">
              <a:buNone/>
            </a:pPr>
            <a:r>
              <a:rPr lang="en-US" sz="2400" b="1" i="1" dirty="0">
                <a:solidFill>
                  <a:srgbClr val="E0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9808" y="4297680"/>
            <a:ext cx="1828800" cy="0"/>
          </a:xfrm>
          <a:prstGeom prst="line">
            <a:avLst/>
          </a:prstGeom>
          <a:noFill/>
          <a:ln w="19050">
            <a:solidFill>
              <a:srgbClr val="D8E6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gradient boosting frameworks for forecasting solar and wind power generation, grounded in recent published research.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440680"/>
            <a:ext cx="502920" cy="502920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0" name="Image 0" descr="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5566410"/>
            <a:ext cx="251460" cy="2514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463040" y="5440680"/>
            <a:ext cx="502920" cy="502920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12" name="Image 1" descr="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70" y="5566410"/>
            <a:ext cx="251460" cy="2514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94560" y="5440680"/>
            <a:ext cx="502920" cy="502920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14" name="Image 2" descr="lea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290" y="556641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6080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Energy Analytics Presentation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31520" y="63825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Referencing: Kinasih et al. (2026), Bulletin of Network Engineer and Informatics · Raj &amp; Arora (2026), Int. J. Scientific Research in CSEIT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Growing Need for Accurate Energy Forecasting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126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solar and wind capacity expands worldwide, grid operators face a fundamentally variable and weather-dependent supply. Unlike conventional generation, renewable output cannot be dispatched on demand — it must be predicted, so that reserves, storage, and trading decisions can be planned in advance.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decision trees — particularly XGBoost and LightGBM — have become a leading tabular-data approach for this task, consistently outperforming deep learning baselines such as LSTM in recent published comparisons.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78040" y="160020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1691640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0.988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823960" y="1709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achieved by LightGBM for total renewable energy output (Kinasih et al., 2026)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7178040" y="3044952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3136392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~10,000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823960" y="31546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chronological observations used to train and test the boosting models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178040" y="4489704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4581144"/>
            <a:ext cx="1600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8823960" y="4599432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reduction reported for a stacked XGBoost + LightGBM hybrid model (Raj &amp; Arora, 2026)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in Recent Published Research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draws on two 2026 comparative studies that directly evaluate XGBoost and LightGBM for renewable energy and power forecasting.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85232" cy="3794760"/>
          </a:xfrm>
          <a:prstGeom prst="roundRect">
            <a:avLst>
              <a:gd name="adj" fmla="val 2410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31720"/>
            <a:ext cx="566928" cy="566928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7" name="Image 0" descr="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47345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6002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Kinasih et al. (2026)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6112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of Network Engineer and Informatics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6112" y="3364992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XGBoost, LightGBM, and LSTM across solar PV, wind, and total renewable energy forecasting using ~10,000 hourly, chronologically split records. Extensive feature engineering (time, rolling-window, and lag features) was applied identically to all models.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96112" y="4983480"/>
            <a:ext cx="4754880" cy="0"/>
          </a:xfrm>
          <a:prstGeom prst="line">
            <a:avLst/>
          </a:prstGeom>
          <a:noFill/>
          <a:ln w="12700">
            <a:solidFill>
              <a:srgbClr val="D8E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510235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i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models reached R² up to 0.988; LSTM produced negative R² on every target.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3640" y="2103120"/>
            <a:ext cx="5285232" cy="3794760"/>
          </a:xfrm>
          <a:prstGeom prst="roundRect">
            <a:avLst>
              <a:gd name="adj" fmla="val 2410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19672" y="2331720"/>
            <a:ext cx="566928" cy="566928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6" name="Image 1" descr="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473452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331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TWO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22376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Raj &amp; Arora (2026)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19672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J. Scientific Research in CSEIT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19672" y="3364992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review of LightGBM against a proposed Hybrid XGBoost framework for energy power prediction, examining GOSS/EFB efficiency techniques and a stacking-regressor architecture with a meta-learner.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6519672" y="4983480"/>
            <a:ext cx="4754880" cy="0"/>
          </a:xfrm>
          <a:prstGeom prst="line">
            <a:avLst/>
          </a:prstGeom>
          <a:noFill/>
          <a:ln w="12700">
            <a:solidFill>
              <a:srgbClr val="D8E6E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19672" y="5102352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i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offers faster training; a stacked hybrid is reported to cut MAPE by 12% over either model alone.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Sets Out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errors translate directly into balancing costs and curtailment. The objective is to build, tune, and compare gradient-boosting models that predict short-term renewable energy output with minimal error and practical training cost.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4F9F7"/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2898648"/>
            <a:ext cx="658368" cy="658368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7" name="Image 0" descr="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496" y="305665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Output Accurately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hourly solar, wind, and total generation with low RMSE/MAE, as demonstrated by Kinasih et al. (2026).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3511296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EAF5F0"/>
          </a:solidFill>
          <a:ln/>
        </p:spPr>
      </p:sp>
      <p:sp>
        <p:nvSpPr>
          <p:cNvPr id="11" name="Shape 8"/>
          <p:cNvSpPr/>
          <p:nvPr/>
        </p:nvSpPr>
        <p:spPr>
          <a:xfrm>
            <a:off x="4489704" y="2898648"/>
            <a:ext cx="658368" cy="658368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12" name="Image 1" descr="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712" y="305665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Combine Models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94176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XGBoost against LightGBM, and explore a stacked hybrid per Raj &amp; Arora (2026).</a:t>
            </a:r>
            <a:endParaRPr lang="en-US" sz="1020" dirty="0"/>
          </a:p>
        </p:txBody>
      </p:sp>
      <p:sp>
        <p:nvSpPr>
          <p:cNvPr id="15" name="Shape 11"/>
          <p:cNvSpPr/>
          <p:nvPr/>
        </p:nvSpPr>
        <p:spPr>
          <a:xfrm>
            <a:off x="6382512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F4F9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360920" y="2898648"/>
            <a:ext cx="658368" cy="658368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17" name="Image 2" descr="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928" y="3056656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Robust Features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65392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time-based, rolling-window, and lag features that capture generation drivers.</a:t>
            </a:r>
            <a:endParaRPr lang="en-US" sz="1020" dirty="0"/>
          </a:p>
        </p:txBody>
      </p:sp>
      <p:sp>
        <p:nvSpPr>
          <p:cNvPr id="20" name="Shape 15"/>
          <p:cNvSpPr/>
          <p:nvPr/>
        </p:nvSpPr>
        <p:spPr>
          <a:xfrm>
            <a:off x="9253728" y="2606040"/>
            <a:ext cx="2615184" cy="3246120"/>
          </a:xfrm>
          <a:prstGeom prst="roundRect">
            <a:avLst>
              <a:gd name="adj" fmla="val 3147"/>
            </a:avLst>
          </a:prstGeom>
          <a:solidFill>
            <a:srgbClr val="EAF5F0"/>
          </a:solidFill>
          <a:ln/>
        </p:spPr>
      </p:sp>
      <p:sp>
        <p:nvSpPr>
          <p:cNvPr id="21" name="Shape 16"/>
          <p:cNvSpPr/>
          <p:nvPr/>
        </p:nvSpPr>
        <p:spPr>
          <a:xfrm>
            <a:off x="10232136" y="2898648"/>
            <a:ext cx="658368" cy="658368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22" name="Image 3" descr="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0144" y="3056656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3776472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Grid Decisions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36608" y="4480560"/>
            <a:ext cx="224942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2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forecasts usable for scheduling, storage dispatch, and market bidding.</a:t>
            </a:r>
            <a:endParaRPr lang="en-US" sz="102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Feature Engineering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Kinasih et al. (2026): approximately 10,000 hourly, chronologically ordered observations of solar PV, wind, and total renewable output, split 80/20 by timestamp to preserve time-series integrity and avoid data leakage.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4F9F7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651760"/>
            <a:ext cx="777240" cy="777240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7" name="Image 0" descr="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270" y="28460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Features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4251960"/>
            <a:ext cx="2916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day, day of week, month, day of year, and quarter — capturing diurnal and seasonal cycles.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1688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EAF5F0"/>
          </a:solidFill>
          <a:ln/>
        </p:spPr>
      </p:sp>
      <p:sp>
        <p:nvSpPr>
          <p:cNvPr id="11" name="Shape 8"/>
          <p:cNvSpPr/>
          <p:nvPr/>
        </p:nvSpPr>
        <p:spPr>
          <a:xfrm>
            <a:off x="5687568" y="2651760"/>
            <a:ext cx="777240" cy="777240"/>
          </a:xfrm>
          <a:prstGeom prst="ellipse">
            <a:avLst/>
          </a:prstGeom>
          <a:solidFill>
            <a:srgbClr val="2B8C6E"/>
          </a:solidFill>
          <a:ln/>
        </p:spPr>
      </p:sp>
      <p:pic>
        <p:nvPicPr>
          <p:cNvPr id="12" name="Image 1" descr="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878" y="28460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Statistics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7720" y="4251960"/>
            <a:ext cx="2916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standard deviation, min, and max over 3-, 6-, 12-, and 24-hour windows for recent trend and volatility.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83296" y="233172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F4F9F7"/>
          </a:solidFill>
          <a:ln/>
        </p:spPr>
      </p:sp>
      <p:sp>
        <p:nvSpPr>
          <p:cNvPr id="16" name="Shape 12"/>
          <p:cNvSpPr/>
          <p:nvPr/>
        </p:nvSpPr>
        <p:spPr>
          <a:xfrm>
            <a:off x="9409176" y="2651760"/>
            <a:ext cx="777240" cy="777240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17" name="Image 2" descr="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486" y="28460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Features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39328" y="4251960"/>
            <a:ext cx="291693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Lag-1, 2, 3, 6, 12, and 24 values — autoregressive signals capturing serial correlation in generation.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rolling and lag features were computed using only information available at or before each prediction point, ensuring no future data leaked into training.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035040" y="6473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Kinasih et al. (2026)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Extreme Gradient Boosting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4160520"/>
          </a:xfrm>
          <a:prstGeom prst="roundRect">
            <a:avLst>
              <a:gd name="adj" fmla="val 2778"/>
            </a:avLst>
          </a:prstGeom>
          <a:solidFill>
            <a:srgbClr val="EAF5F0"/>
          </a:solidFill>
          <a:ln/>
        </p:spPr>
      </p:sp>
      <p:sp>
        <p:nvSpPr>
          <p:cNvPr id="5" name="Shape 3"/>
          <p:cNvSpPr/>
          <p:nvPr/>
        </p:nvSpPr>
        <p:spPr>
          <a:xfrm>
            <a:off x="1805940" y="1920240"/>
            <a:ext cx="960120" cy="960120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6" name="Image 0" descr="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970" y="216027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trees,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for precision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34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ensemble of decision trees sequentially, where each new tree corrects the residual errors of the ones before it, using a level-wise (breadth-first) growth strategy.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746504"/>
            <a:ext cx="128016" cy="128016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0" name="Text 7"/>
          <p:cNvSpPr/>
          <p:nvPr/>
        </p:nvSpPr>
        <p:spPr>
          <a:xfrm>
            <a:off x="4526280" y="161848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Objective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26280" y="1947672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penalties on leaf weights curb overfitting on noisy weather features.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2724912"/>
            <a:ext cx="128016" cy="128016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259689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Handles Missing Values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26280" y="29260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 optimal default split direction for absent sensor readings.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251960" y="3703320"/>
            <a:ext cx="128016" cy="128016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6" name="Text 13"/>
          <p:cNvSpPr/>
          <p:nvPr/>
        </p:nvSpPr>
        <p:spPr>
          <a:xfrm>
            <a:off x="4526280" y="357530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for Wind Output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26280" y="3904488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Kinasih et al. (2026) found XGBoost gave the lowest wind-power RMSE (3.26) and R² of 0.987.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51960" y="4681728"/>
            <a:ext cx="128016" cy="128016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455371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Sensor Noise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26280" y="4882896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&amp; Arora (2026) note its regularization prevented overfitting to noisy offshore sensor data in prior studies.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— Light Gradient Boosting Machine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746504"/>
            <a:ext cx="128016" cy="128016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61848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Leaf-wise Growth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2688" y="1947672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leaf with the highest loss reduction first, reaching lower error faster.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724912"/>
            <a:ext cx="128016" cy="128016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59689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GOSS &amp; EFB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" y="2926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One-Side Sampling and Exclusive Feature Bundling cut computation and memory sharply (Raj &amp; Arora, 2026).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3703320"/>
            <a:ext cx="128016" cy="128016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57530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 for Solar &amp; Total Output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390448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Kinasih et al. (2026) report LightGBM's lowest RMSE for solar PV (3.27) and total renewable energy (4.66).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681728"/>
            <a:ext cx="128016" cy="128016"/>
          </a:xfrm>
          <a:prstGeom prst="ellipse">
            <a:avLst/>
          </a:prstGeom>
          <a:solidFill>
            <a:srgbClr val="E0982F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55371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Training Speed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" y="488289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&amp; Arora (2026) estimate a 30–40% training-time reduction versus standard XGBoost — ideal for intra-day updates.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600200"/>
            <a:ext cx="3291840" cy="4160520"/>
          </a:xfrm>
          <a:prstGeom prst="roundRect">
            <a:avLst>
              <a:gd name="adj" fmla="val 2778"/>
            </a:avLst>
          </a:prstGeom>
          <a:solidFill>
            <a:srgbClr val="EA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9395460" y="1920240"/>
            <a:ext cx="960120" cy="960120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8" name="Image 0" descr="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5091" y="2169871"/>
            <a:ext cx="460858" cy="46085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58200" y="31089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Speed-optimized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b="1" i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large datasets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58200" y="3977640"/>
            <a:ext cx="2834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some of XGBoost's exhaustive search for leaf-wise growth and histogram binning, often training several times faster with comparable or better accuracy.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Stacking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&amp; Arora (2026) propose combining both algorithms in a stacking regressor: XGBoost and LightGBM act as base learners, and a secondary optimized XGBoost model serves as the meta-learner that weighs their predictions.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63040" y="26060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AF5F0"/>
          </a:solidFill>
          <a:ln w="12700">
            <a:solidFill>
              <a:srgbClr val="0F5C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Learner 1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26060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AF5F0"/>
          </a:solidFill>
          <a:ln w="12700">
            <a:solidFill>
              <a:srgbClr val="E098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606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Learner 2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3474720"/>
            <a:ext cx="1783080" cy="502920"/>
          </a:xfrm>
          <a:prstGeom prst="line">
            <a:avLst/>
          </a:prstGeom>
          <a:noFill/>
          <a:ln w="19050">
            <a:solidFill>
              <a:srgbClr val="D8E6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3474720"/>
            <a:ext cx="-1783080" cy="502920"/>
          </a:xfrm>
          <a:prstGeom prst="line">
            <a:avLst/>
          </a:prstGeom>
          <a:noFill/>
          <a:ln w="19050">
            <a:solidFill>
              <a:srgbClr val="D8E6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3977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0F5C4A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39776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Meta-Learner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(Optimized XGBoost)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4846320"/>
            <a:ext cx="0" cy="411480"/>
          </a:xfrm>
          <a:prstGeom prst="line">
            <a:avLst/>
          </a:prstGeom>
          <a:noFill/>
          <a:ln w="19050">
            <a:solidFill>
              <a:srgbClr val="D8E6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525780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E0982F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52578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Renewable-Output Forecast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606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Hyperparameter Search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289864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learning rate, depth, and regularization more efficiently than grid search.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229600" y="3977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Gain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0" y="427024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comparable stacked hybrid cut MAPE by 12% versus either standalone model (Wang &amp; Liu, 2022, cited in Raj &amp; Arora, 2026).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8229600" y="5349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0" y="5641848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&amp; Arora (2026) anticipate hybrid R² exceeding 0.92 for short-term solar forecasting — framed as a hypothesized target, not a measured result.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Models Were Trained and Evaluated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(Kinasih et al., 2026)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075688"/>
            <a:ext cx="100584" cy="100584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hourly observations, split 80/20 chronologically (train on the past, test on the future).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58368" y="2734056"/>
            <a:ext cx="100584" cy="100584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6243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Intel Core i7, 16 GB RAM, Python 3.11.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58368" y="3392424"/>
            <a:ext cx="100584" cy="100584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28269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scikit-learn, TensorFlow, XGBoost, LightGBM.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658368" y="4050792"/>
            <a:ext cx="100584" cy="100584"/>
          </a:xfrm>
          <a:prstGeom prst="ellipse">
            <a:avLst/>
          </a:prstGeom>
          <a:solidFill>
            <a:srgbClr val="0F5C4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94106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tuned via grid search: learning rate, tree depth, estimators, subsample ratio.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0" cy="4206240"/>
          </a:xfrm>
          <a:prstGeom prst="line">
            <a:avLst/>
          </a:prstGeom>
          <a:noFill/>
          <a:ln w="12700">
            <a:solidFill>
              <a:srgbClr val="D8E6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572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2011680"/>
            <a:ext cx="5166360" cy="932688"/>
          </a:xfrm>
          <a:prstGeom prst="roundRect">
            <a:avLst>
              <a:gd name="adj" fmla="val 6863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08483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18120" y="2084832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— penalizes large errors heavily; critical where big misses cause grid instability.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08960"/>
            <a:ext cx="5166360" cy="932688"/>
          </a:xfrm>
          <a:prstGeom prst="roundRect">
            <a:avLst>
              <a:gd name="adj" fmla="val 6863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18211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18120" y="3182112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a linear, outlier-robust measure of average prediction quality.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4206240"/>
            <a:ext cx="5166360" cy="932688"/>
          </a:xfrm>
          <a:prstGeom prst="roundRect">
            <a:avLst>
              <a:gd name="adj" fmla="val 6863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7939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18120" y="4279392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 — share of variance explained; 1.0 is perfect, 0 matches the mean, negative is worse than the mean.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 Performance (Kinasih et al., 2026)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6858000" cy="4160520"/>
        </p:xfrm>
        <a:graphic>
          <a:graphicData uri="http://schemas.openxmlformats.org/drawingml/2006/table">
            <a:tbl>
              <a:tblPr/>
              <a:tblGrid>
                <a:gridCol w="2331720"/>
                <a:gridCol w="1371600"/>
                <a:gridCol w="1051560"/>
                <a:gridCol w="1051560"/>
                <a:gridCol w="1051560"/>
              </a:tblGrid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4A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PV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PV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PV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Power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Power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Power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Renewable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Renewable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Renewable 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4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749040" cy="1463040"/>
          </a:xfrm>
          <a:prstGeom prst="roundRect">
            <a:avLst>
              <a:gd name="adj" fmla="val 5625"/>
            </a:avLst>
          </a:prstGeom>
          <a:solidFill>
            <a:srgbClr val="EAF5F0"/>
          </a:solidFill>
          <a:ln/>
        </p:spPr>
      </p:sp>
      <p:sp>
        <p:nvSpPr>
          <p:cNvPr id="6" name="Shape 3"/>
          <p:cNvSpPr/>
          <p:nvPr/>
        </p:nvSpPr>
        <p:spPr>
          <a:xfrm>
            <a:off x="8028432" y="1691640"/>
            <a:ext cx="530352" cy="530352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7" name="Image 0" descr="me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1020" y="1824228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 – 0.988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686800" y="20848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range for XGBoost &amp; LightGBM across every target</a:t>
            </a:r>
            <a:endParaRPr lang="en-US" sz="970" dirty="0"/>
          </a:p>
        </p:txBody>
      </p:sp>
      <p:sp>
        <p:nvSpPr>
          <p:cNvPr id="10" name="Shape 6"/>
          <p:cNvSpPr/>
          <p:nvPr/>
        </p:nvSpPr>
        <p:spPr>
          <a:xfrm>
            <a:off x="7818120" y="3108960"/>
            <a:ext cx="3749040" cy="1463040"/>
          </a:xfrm>
          <a:prstGeom prst="roundRect">
            <a:avLst>
              <a:gd name="adj" fmla="val 5625"/>
            </a:avLst>
          </a:prstGeom>
          <a:solidFill>
            <a:srgbClr val="F7EAE5"/>
          </a:solidFill>
          <a:ln/>
        </p:spPr>
      </p:sp>
      <p:sp>
        <p:nvSpPr>
          <p:cNvPr id="11" name="Shape 7"/>
          <p:cNvSpPr/>
          <p:nvPr/>
        </p:nvSpPr>
        <p:spPr>
          <a:xfrm>
            <a:off x="8028432" y="3291840"/>
            <a:ext cx="530352" cy="530352"/>
          </a:xfrm>
          <a:prstGeom prst="ellipse">
            <a:avLst/>
          </a:prstGeom>
          <a:solidFill>
            <a:srgbClr val="B3452C"/>
          </a:solidFill>
          <a:ln/>
        </p:spPr>
      </p:sp>
      <p:pic>
        <p:nvPicPr>
          <p:cNvPr id="12" name="Image 1" descr="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020" y="3424428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0" y="32278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−0.024 to −0.083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686800" y="36850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R² across all targets — worse than predicting the mean</a:t>
            </a:r>
            <a:endParaRPr lang="en-US" sz="970" dirty="0"/>
          </a:p>
        </p:txBody>
      </p:sp>
      <p:sp>
        <p:nvSpPr>
          <p:cNvPr id="15" name="Shape 10"/>
          <p:cNvSpPr/>
          <p:nvPr/>
        </p:nvSpPr>
        <p:spPr>
          <a:xfrm>
            <a:off x="7818120" y="4709160"/>
            <a:ext cx="3749040" cy="960120"/>
          </a:xfrm>
          <a:prstGeom prst="roundRect">
            <a:avLst>
              <a:gd name="adj" fmla="val 8571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001000" y="477316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i="1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error rates were roughly 8–10× lower than LSTM across all three forecasting targets.</a:t>
            </a:r>
            <a:endParaRPr lang="en-US" sz="98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Gradient Boosting Wins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6" name="Image 0" descr="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Boosting's Advantages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tabular features (time, rolling, lag) suit axis-aligned tree splits naturally.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70432" y="36576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pre-encodes temporal patterns, substituting for sequence learning.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70916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0432" y="47091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regularization performs well on moderate-sized datasets (~10K rows).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EAE5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B3452C"/>
          </a:solidFill>
          <a:ln/>
        </p:spPr>
      </p:sp>
      <p:pic>
        <p:nvPicPr>
          <p:cNvPr id="16" name="Image 1" descr="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32904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LSTM Underperformed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537960" y="260604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93992" y="26060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typically need tens of thousands of samples; ~10,000 rows may be insufficient.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537960" y="365760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93992" y="36576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engineered features may duplicate what LSTM's gates already try to learn, adding redundancy.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37960" y="470916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93992" y="470916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LSTMs are highly sensitive to architecture and hyperparameters; the baseline used limited tuning.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 studies caution against over-generalizing: with larger datasets and systematic tuning, deep learning and hybrid approaches may close this gap.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and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4F9F7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566928" cy="566928"/>
          </a:xfrm>
          <a:prstGeom prst="ellipse">
            <a:avLst/>
          </a:prstGeom>
          <a:solidFill>
            <a:srgbClr val="0F5C4A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0619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9751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269748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led for solar PV and total renewable energy; XGBoost led for wind output (Kinasih et al., 2026).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79476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70432" y="3794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gradient boosting models scored R² of 0.986–0.988, while LSTM was consistently negative.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489204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70432" y="489204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stacked XGBoost + LightGBM hybrid may push accuracy further, per Raj &amp; Arora (2026).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4592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EAF5F0"/>
          </a:solidFill>
          <a:ln w="9525">
            <a:solidFill>
              <a:srgbClr val="D8E6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1920240"/>
            <a:ext cx="566928" cy="566928"/>
          </a:xfrm>
          <a:prstGeom prst="ellipse">
            <a:avLst/>
          </a:prstGeom>
          <a:solidFill>
            <a:srgbClr val="E0982F"/>
          </a:solidFill>
          <a:ln/>
        </p:spPr>
      </p:sp>
      <p:pic>
        <p:nvPicPr>
          <p:cNvPr id="16" name="Image 1" descr="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061972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51192" y="19751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37960" y="269748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93992" y="269748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search and larger datasets for a fairer LSTM comparison.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537960" y="379476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93992" y="379476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or blended ensembles combining boosting and deep learning (both studies flag this).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37960" y="4892040"/>
            <a:ext cx="228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93992" y="4892040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exogenous weather, satellite irradiance, and Transformer-based architectures.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OUTPUT PREDICTION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2026-08-28T03:46:26Z</dcterms:created>
  <dcterms:modified xsi:type="dcterms:W3CDTF">2026-08-28T03:46:26Z</dcterms:modified>
</cp:coreProperties>
</file>