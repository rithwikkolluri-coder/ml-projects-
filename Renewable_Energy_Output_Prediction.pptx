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F5C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Predictive Accuracy</c:v>
                  </c:pt>
                  <c:pt idx="1">
                    <c:v>Training Speed</c:v>
                  </c:pt>
                  <c:pt idx="2">
                    <c:v>Memory Efficiency</c:v>
                  </c:pt>
                  <c:pt idx="3">
                    <c:v>Interpretability</c:v>
                  </c:pt>
                  <c:pt idx="4">
                    <c:v>Large-Data Scaling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6</c:v>
                </c:pt>
                <c:pt idx="2">
                  <c:v>6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E098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Predictive Accuracy</c:v>
                  </c:pt>
                  <c:pt idx="1">
                    <c:v>Training Speed</c:v>
                  </c:pt>
                  <c:pt idx="2">
                    <c:v>Memory Efficiency</c:v>
                  </c:pt>
                  <c:pt idx="3">
                    <c:v>Interpretability</c:v>
                  </c:pt>
                  <c:pt idx="4">
                    <c:v>Large-Data Scaling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3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3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D8E6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6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66"/>
                    </a:solidFill>
                    <a:latin typeface="Arial"/>
                  </a:rPr>
                  <a:t>Relative Score (0–10)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0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943600" cy="5943600"/>
          </a:xfrm>
          <a:prstGeom prst="ellipse">
            <a:avLst/>
          </a:prstGeom>
          <a:solidFill>
            <a:srgbClr val="EAF5F0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280160"/>
            <a:ext cx="4114800" cy="4114800"/>
          </a:xfrm>
          <a:prstGeom prst="ellipse">
            <a:avLst/>
          </a:prstGeom>
          <a:solidFill>
            <a:srgbClr val="F4F9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ENERGY FORECASTING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224028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Output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2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</a:t>
            </a:r>
            <a:pPr indent="0" marL="0">
              <a:buNone/>
            </a:pPr>
            <a:r>
              <a:rPr lang="en-US" sz="2400" b="1" i="1" dirty="0">
                <a:solidFill>
                  <a:srgbClr val="0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pPr indent="0" marL="0">
              <a:buNone/>
            </a:pPr>
            <a:r>
              <a:rPr lang="en-US" sz="2400" i="1" dirty="0">
                <a:solidFill>
                  <a:srgbClr val="22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pPr indent="0" marL="0">
              <a:buNone/>
            </a:pPr>
            <a:r>
              <a:rPr lang="en-US" sz="2400" b="1" i="1" dirty="0">
                <a:solidFill>
                  <a:srgbClr val="E0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9808" y="4434840"/>
            <a:ext cx="1828800" cy="0"/>
          </a:xfrm>
          <a:prstGeom prst="line">
            <a:avLst/>
          </a:prstGeom>
          <a:noFill/>
          <a:ln w="19050">
            <a:solidFill>
              <a:srgbClr val="D8E6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177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gradient boosting frameworks for forecasting solar and wind power generation from meteorological and operational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715000"/>
            <a:ext cx="502920" cy="502920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0" name="Image 0" descr="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5840730"/>
            <a:ext cx="251460" cy="2514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463040" y="5715000"/>
            <a:ext cx="502920" cy="502920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12" name="Image 1" descr="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70" y="5840730"/>
            <a:ext cx="251460" cy="2514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94560" y="5715000"/>
            <a:ext cx="502920" cy="502920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14" name="Image 2" descr="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290" y="58407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Energy Analytics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Growing Need for Accurate Energy Forecasting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126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solar and wind capacity expands worldwide, grid operators face a fundamentally variable and weather-dependent supply. Unlike conventional generation, renewable output cannot be dispatched on demand — it must be predicted, so that reserves, storage, and trading decisions can be planned in advance.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decision trees — particularly XGBoost and LightGBM — have become the leading tabular-data approach for this task, valued for their accuracy, speed, and ability to model nonlinear weather-to-output relationships.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78040" y="1645920"/>
            <a:ext cx="4343400" cy="1170432"/>
          </a:xfrm>
          <a:prstGeom prst="roundRect">
            <a:avLst>
              <a:gd name="adj" fmla="val 6250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175564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32520" y="1773936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global electricity from renewables (2024)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78040" y="3044952"/>
            <a:ext cx="4343400" cy="1170432"/>
          </a:xfrm>
          <a:prstGeom prst="roundRect">
            <a:avLst>
              <a:gd name="adj" fmla="val 6250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315468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732520" y="3172968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day-ahead solar forecast error without ML tuning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4443984"/>
            <a:ext cx="4343400" cy="1170432"/>
          </a:xfrm>
          <a:prstGeom prst="roundRect">
            <a:avLst>
              <a:gd name="adj" fmla="val 6250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55371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32520" y="4572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frameworks compared in this study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Sets Out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errors translate directly into balancing costs and curtailment. The objective is to build, tune, and compare two gradient-boosting models that predict short-term renewable energy output with minimal error and practical training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4F9F7"/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2898648"/>
            <a:ext cx="658368" cy="658368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7" name="Image 0" descr="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496" y="305665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Output Accurately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hourly/daily solar and wind generation from weather and plant data with low RMSE/MAE.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11296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EAF5F0"/>
          </a:solidFill>
          <a:ln/>
        </p:spPr>
      </p:sp>
      <p:sp>
        <p:nvSpPr>
          <p:cNvPr id="11" name="Shape 8"/>
          <p:cNvSpPr/>
          <p:nvPr/>
        </p:nvSpPr>
        <p:spPr>
          <a:xfrm>
            <a:off x="4489704" y="2898648"/>
            <a:ext cx="658368" cy="658368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12" name="Image 1" descr="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712" y="305665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Algorithms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94176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XGBoost against LightGBM on accuracy, training time, and resource use.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82512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4F9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360920" y="2898648"/>
            <a:ext cx="658368" cy="658368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17" name="Image 2" descr="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928" y="3056656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Robust Features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65392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weather, temporal, and lag-based features that capture generation drivers.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253728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EAF5F0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32136" y="2898648"/>
            <a:ext cx="658368" cy="658368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22" name="Image 3" descr="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0144" y="3056656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Grid Decisions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36608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forecasts usable for scheduling, storage dispatch, and market bidding.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Deployable Forecasts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2331720"/>
            <a:ext cx="9052560" cy="0"/>
          </a:xfrm>
          <a:prstGeom prst="line">
            <a:avLst/>
          </a:prstGeom>
          <a:noFill/>
          <a:ln w="25400">
            <a:solidFill>
              <a:srgbClr val="D8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1947672"/>
            <a:ext cx="768096" cy="768096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6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1396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4592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286207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410712"/>
            <a:ext cx="19933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SCADA output, irradiance, wind speed, temperature, and pressure data.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20440" y="1947672"/>
            <a:ext cx="768096" cy="768096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11" name="Image 1" descr="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1396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64592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889504" y="286207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07792" y="3410712"/>
            <a:ext cx="19933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resampling, gap-filling, and normalizing multi-source time series.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696712" y="1947672"/>
            <a:ext cx="768096" cy="768096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16" name="Image 2" descr="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1396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96712" y="164592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65776" y="286207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84064" y="3410712"/>
            <a:ext cx="19933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features, rolling statistics, cyclical time encodings, and weather interactions.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872984" y="1947672"/>
            <a:ext cx="768096" cy="768096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21" name="Image 3" descr="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1396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72984" y="164592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242048" y="286207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260336" y="3410712"/>
            <a:ext cx="19933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Hyperparameter-tuned XGBoost and LightGBM regressors, trained on the same splits.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10049256" y="1947672"/>
            <a:ext cx="768096" cy="768096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26" name="Image 4" descr="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213969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49256" y="1645920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418320" y="286207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436608" y="3410712"/>
            <a:ext cx="19933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RMSE, MAE, R², and training time on a held-out test period.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Extreme Gradient Boosting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4160520"/>
          </a:xfrm>
          <a:prstGeom prst="roundRect">
            <a:avLst>
              <a:gd name="adj" fmla="val 2778"/>
            </a:avLst>
          </a:prstGeom>
          <a:solidFill>
            <a:srgbClr val="EAF5F0"/>
          </a:solidFill>
          <a:ln/>
        </p:spPr>
      </p:sp>
      <p:sp>
        <p:nvSpPr>
          <p:cNvPr id="5" name="Shape 3"/>
          <p:cNvSpPr/>
          <p:nvPr/>
        </p:nvSpPr>
        <p:spPr>
          <a:xfrm>
            <a:off x="1805940" y="1920240"/>
            <a:ext cx="960120" cy="960120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6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970" y="216027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trees,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for precision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ensemble of decision trees sequentially, where each new tree corrects the residual errors of the ones before it, optimized via second-order gradient information.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746504"/>
            <a:ext cx="128016" cy="128016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0" name="Text 7"/>
          <p:cNvSpPr/>
          <p:nvPr/>
        </p:nvSpPr>
        <p:spPr>
          <a:xfrm>
            <a:off x="4526280" y="16184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Objective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26280" y="19476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penalties on leaf weights curb overfitting on noisy weather features.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2724912"/>
            <a:ext cx="128016" cy="128016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259689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Handles Missing Values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26280" y="29260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 optimal default split direction for absent sensor readings.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51960" y="3703320"/>
            <a:ext cx="128016" cy="128016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6" name="Text 13"/>
          <p:cNvSpPr/>
          <p:nvPr/>
        </p:nvSpPr>
        <p:spPr>
          <a:xfrm>
            <a:off x="4526280" y="357530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Finding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26280" y="390448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Depth-wise tree growth with an exact or histogram-based greedy algorithm.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51960" y="4681728"/>
            <a:ext cx="128016" cy="128016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45537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Adoption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26280" y="4882896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ecosystem, strong documentation, and proven results on tabular data.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— Light Gradient Boosting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46504"/>
            <a:ext cx="128016" cy="128016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61848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Leaf-wise Growth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194767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leaf with the highest loss reduction first, reaching lower error faster.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724912"/>
            <a:ext cx="128016" cy="128016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59689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Histogram-based Splits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" y="292608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continuous features into bins, cutting computation and memory use sharply.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3703320"/>
            <a:ext cx="128016" cy="128016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57530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Scale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390448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with high-dimensional, large time-series datasets typical of SCADA logs.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681728"/>
            <a:ext cx="128016" cy="128016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5537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Categorical Support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" y="4882896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categorical inputs (plant ID, season) without manual one-hot encoding.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600200"/>
            <a:ext cx="3291840" cy="4160520"/>
          </a:xfrm>
          <a:prstGeom prst="roundRect">
            <a:avLst>
              <a:gd name="adj" fmla="val 2778"/>
            </a:avLst>
          </a:prstGeom>
          <a:solidFill>
            <a:srgbClr val="EA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9395460" y="1920240"/>
            <a:ext cx="960120" cy="960120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8" name="Image 0" descr="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5091" y="2169871"/>
            <a:ext cx="460858" cy="4608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5820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Speed-optimized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large datasets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58200" y="397764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some of XGBoost's exhaustive search for leaf-wise growth and histogram binning, often training several times faster with comparable accuracy.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XGBoost and LightGBM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comparison of the criteria typically used to judge boosting models for energy-output forecasting — actual scores depend on the dataset and tuning.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03120"/>
          <a:ext cx="10881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and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566928" cy="566928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0619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9751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6974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substantially outperform classical statistical baselines for solar and wind forecasting.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70432" y="36576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tends to edge ahead on accuracy; LightGBM wins on training speed and memory footprint.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617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0432" y="46177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(lags, weather interactions) matters as much as model choice.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EAF5F0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1920240"/>
            <a:ext cx="566928" cy="566928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6" name="Image 1" descr="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061972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51192" y="19751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37960" y="2697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93992" y="26974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Ensemble/stacked models blending XGBoost, LightGBM, and neural forecasters.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37960" y="36576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93992" y="36576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with streaming weather feeds and automated retraining.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537960" y="4617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93992" y="46177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to multi-site, probabilistic forecasts for grid-scale uncertainty planning.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2026-08-28T03:34:30Z</dcterms:created>
  <dcterms:modified xsi:type="dcterms:W3CDTF">2026-08-28T03:34:30Z</dcterms:modified>
</cp:coreProperties>
</file>