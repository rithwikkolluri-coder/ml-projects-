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94560"/>
            <a:ext cx="5943600" cy="5943600"/>
          </a:xfrm>
          <a:prstGeom prst="ellipse">
            <a:avLst/>
          </a:prstGeom>
          <a:solidFill>
            <a:srgbClr val="E4F5EC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548640"/>
            <a:ext cx="3840480" cy="3840480"/>
          </a:xfrm>
          <a:prstGeom prst="ellipse">
            <a:avLst/>
          </a:prstGeom>
          <a:solidFill>
            <a:srgbClr val="E4F1F8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3566160"/>
            <a:ext cx="2286000" cy="2286000"/>
          </a:xfrm>
          <a:prstGeom prst="ellipse">
            <a:avLst/>
          </a:prstGeom>
          <a:solidFill>
            <a:srgbClr val="FCEED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8A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ENERGY FORECASTING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2103120"/>
            <a:ext cx="9692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Renewable Energy Output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20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</a:t>
            </a:r>
            <a:pPr indent="0" marL="0">
              <a:buNone/>
            </a:pPr>
            <a:r>
              <a:rPr lang="en-US" sz="2400" b="1" i="1" dirty="0">
                <a:solidFill>
                  <a:srgbClr val="0A6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pPr indent="0" marL="0">
              <a:buNone/>
            </a:pPr>
            <a:r>
              <a:rPr lang="en-US" sz="2400" i="1" dirty="0">
                <a:solidFill>
                  <a:srgbClr val="20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</a:t>
            </a:r>
            <a:pPr indent="0" marL="0">
              <a:buNone/>
            </a:pPr>
            <a:r>
              <a:rPr lang="en-US" sz="2400" b="1" i="1" dirty="0">
                <a:solidFill>
                  <a:srgbClr val="F08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49808" y="4297680"/>
            <a:ext cx="1828800" cy="0"/>
          </a:xfrm>
          <a:prstGeom prst="line">
            <a:avLst/>
          </a:prstGeom>
          <a:noFill/>
          <a:ln w="19050">
            <a:solidFill>
              <a:srgbClr val="D9E8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48056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gradient boosting frameworks for forecasting solar and wind power generation, grounded in recent published research.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5440680"/>
            <a:ext cx="502920" cy="502920"/>
          </a:xfrm>
          <a:prstGeom prst="ellipse">
            <a:avLst/>
          </a:prstGeom>
          <a:solidFill>
            <a:srgbClr val="F0862E"/>
          </a:solidFill>
          <a:ln/>
        </p:spPr>
      </p:sp>
      <p:pic>
        <p:nvPicPr>
          <p:cNvPr id="11" name="Image 0" descr="s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5566410"/>
            <a:ext cx="251460" cy="2514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463040" y="5440680"/>
            <a:ext cx="502920" cy="502920"/>
          </a:xfrm>
          <a:prstGeom prst="ellipse">
            <a:avLst/>
          </a:prstGeom>
          <a:solidFill>
            <a:srgbClr val="18A672"/>
          </a:solidFill>
          <a:ln/>
        </p:spPr>
      </p:sp>
      <p:pic>
        <p:nvPicPr>
          <p:cNvPr id="13" name="Image 1" descr="wi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770" y="5566410"/>
            <a:ext cx="251460" cy="2514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194560" y="5440680"/>
            <a:ext cx="502920" cy="502920"/>
          </a:xfrm>
          <a:prstGeom prst="ellipse">
            <a:avLst/>
          </a:prstGeom>
          <a:solidFill>
            <a:srgbClr val="0A6B4E"/>
          </a:solidFill>
          <a:ln/>
        </p:spPr>
      </p:sp>
      <p:pic>
        <p:nvPicPr>
          <p:cNvPr id="15" name="Image 2" descr="lea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0290" y="556641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" y="6080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Energy Analytics Presentation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731520" y="638251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Referencing: Kinasih et al. (2026), Bulletin of Network Engineer and Informatics · Raj &amp; Arora (2026), Int. J. Scientific Research in CSEIT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A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Growing Need for Accurate Energy Forecasting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61264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solar and wind capacity expands worldwide, grid operators face a fundamentally variable and weather-dependent supply. Unlike conventional generation, renewable output cannot be dispatched on demand — it must be predicted, so that reserves, storage, and trading decisions can be planned in advance.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6126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decision trees — particularly XGBoost and LightGBM — have become a leading tabular-data approach for this task, consistently outperforming deep learning baselines such as LSTM in recent published comparisons.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78040" y="1600200"/>
            <a:ext cx="4343400" cy="1234440"/>
          </a:xfrm>
          <a:prstGeom prst="roundRect">
            <a:avLst>
              <a:gd name="adj" fmla="val 5926"/>
            </a:avLst>
          </a:prstGeom>
          <a:solidFill>
            <a:srgbClr val="F3FAF6"/>
          </a:solidFill>
          <a:ln w="9525">
            <a:solidFill>
              <a:srgbClr val="D9E8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1691640"/>
            <a:ext cx="1600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6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0.988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823960" y="170992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 achieved by LightGBM for total renewable energy output (Kinasih et al., 2026)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7178040" y="3044952"/>
            <a:ext cx="4343400" cy="1234440"/>
          </a:xfrm>
          <a:prstGeom prst="roundRect">
            <a:avLst>
              <a:gd name="adj" fmla="val 5926"/>
            </a:avLst>
          </a:prstGeom>
          <a:solidFill>
            <a:srgbClr val="E4F1F8"/>
          </a:solidFill>
          <a:ln w="9525">
            <a:solidFill>
              <a:srgbClr val="D9E8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3136392"/>
            <a:ext cx="1600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D5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~10,000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8823960" y="315468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chronological observations used to train and test the boosting models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7178040" y="4489704"/>
            <a:ext cx="4343400" cy="1234440"/>
          </a:xfrm>
          <a:prstGeom prst="roundRect">
            <a:avLst>
              <a:gd name="adj" fmla="val 5926"/>
            </a:avLst>
          </a:prstGeom>
          <a:solidFill>
            <a:srgbClr val="FCEEDD"/>
          </a:solidFill>
          <a:ln w="9525">
            <a:solidFill>
              <a:srgbClr val="D9E8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4581144"/>
            <a:ext cx="1600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46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823960" y="4599432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reduction reported for a stacked XGBoost + LightGBM hybrid model (Raj &amp; Arora, 2026)</a:t>
            </a: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OUTPUT PREDICTION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A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Grounding in Recent Published Research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draws on two 2026 comparative studies that directly evaluate XGBoost and LightGBM for renewable energy and power forecasting.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85232" cy="3794760"/>
          </a:xfrm>
          <a:prstGeom prst="roundRect">
            <a:avLst>
              <a:gd name="adj" fmla="val 2410"/>
            </a:avLst>
          </a:prstGeom>
          <a:solidFill>
            <a:srgbClr val="F3FAF6"/>
          </a:solidFill>
          <a:ln w="9525">
            <a:solidFill>
              <a:srgbClr val="D9E8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331720"/>
            <a:ext cx="566928" cy="566928"/>
          </a:xfrm>
          <a:prstGeom prst="ellipse">
            <a:avLst/>
          </a:prstGeom>
          <a:solidFill>
            <a:srgbClr val="0A6B4E"/>
          </a:solidFill>
          <a:ln/>
        </p:spPr>
      </p:sp>
      <p:pic>
        <p:nvPicPr>
          <p:cNvPr id="7" name="Image 0" descr="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" y="2473452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331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A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ONE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600200" y="2560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Kinasih et al. (2026)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96112" y="29992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Bulletin of Network Engineer and Informatics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96112" y="3364992"/>
            <a:ext cx="4800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8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XGBoost, LightGBM, and LSTM across solar PV, wind, and total renewable energy forecasting using ~10,000 hourly, chronologically split records. Extensive feature engineering (time, rolling-window, and lag features) was applied identically to all models.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896112" y="4983480"/>
            <a:ext cx="4754880" cy="0"/>
          </a:xfrm>
          <a:prstGeom prst="line">
            <a:avLst/>
          </a:prstGeom>
          <a:noFill/>
          <a:ln w="12700">
            <a:solidFill>
              <a:srgbClr val="D9E8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5102352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i="1" dirty="0">
                <a:solidFill>
                  <a:srgbClr val="0A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models reached R² up to 0.988; LSTM produced negative R² on every target.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63640" y="2103120"/>
            <a:ext cx="5285232" cy="3794760"/>
          </a:xfrm>
          <a:prstGeom prst="roundRect">
            <a:avLst>
              <a:gd name="adj" fmla="val 2410"/>
            </a:avLst>
          </a:prstGeom>
          <a:solidFill>
            <a:srgbClr val="F3FAF6"/>
          </a:solidFill>
          <a:ln w="9525">
            <a:solidFill>
              <a:srgbClr val="D9E8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19672" y="2331720"/>
            <a:ext cx="566928" cy="566928"/>
          </a:xfrm>
          <a:prstGeom prst="ellipse">
            <a:avLst/>
          </a:prstGeom>
          <a:solidFill>
            <a:srgbClr val="F0862E"/>
          </a:solidFill>
          <a:ln/>
        </p:spPr>
      </p:sp>
      <p:pic>
        <p:nvPicPr>
          <p:cNvPr id="16" name="Image 1" descr="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404" y="2473452"/>
            <a:ext cx="283464" cy="2834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23760" y="2331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0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TWO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223760" y="2560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Raj &amp; Arora (2026)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519672" y="29992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Int. J. Scientific Research in CSEIT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519672" y="3364992"/>
            <a:ext cx="4800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8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review of LightGBM against a proposed Hybrid XGBoost framework for energy power prediction, examining GOSS/EFB efficiency techniques and a stacking-regressor architecture with a meta-learner.</a:t>
            </a:r>
            <a:endParaRPr lang="en-US" sz="1080" dirty="0"/>
          </a:p>
        </p:txBody>
      </p:sp>
      <p:sp>
        <p:nvSpPr>
          <p:cNvPr id="21" name="Shape 17"/>
          <p:cNvSpPr/>
          <p:nvPr/>
        </p:nvSpPr>
        <p:spPr>
          <a:xfrm>
            <a:off x="6519672" y="4983480"/>
            <a:ext cx="4754880" cy="0"/>
          </a:xfrm>
          <a:prstGeom prst="line">
            <a:avLst/>
          </a:prstGeom>
          <a:noFill/>
          <a:ln w="12700">
            <a:solidFill>
              <a:srgbClr val="D9E8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519672" y="5102352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i="1" dirty="0">
                <a:solidFill>
                  <a:srgbClr val="F0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offers faster training; a stacked hybrid is reported to cut MAPE by 12% over either model alone.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OUTPUT PREDICTION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A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Work Sets Out to 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errors translate directly into balancing costs and curtailment. The objective is to build, tune, and compare gradient-boosting models that predict short-term renewable energy output with minimal error and practical training cost.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15184" cy="3246120"/>
          </a:xfrm>
          <a:prstGeom prst="roundRect">
            <a:avLst>
              <a:gd name="adj" fmla="val 3147"/>
            </a:avLst>
          </a:prstGeom>
          <a:solidFill>
            <a:srgbClr val="F3FAF6"/>
          </a:solidFill>
          <a:ln/>
        </p:spPr>
      </p:sp>
      <p:sp>
        <p:nvSpPr>
          <p:cNvPr id="6" name="Shape 4"/>
          <p:cNvSpPr/>
          <p:nvPr/>
        </p:nvSpPr>
        <p:spPr>
          <a:xfrm>
            <a:off x="1618488" y="2898648"/>
            <a:ext cx="658368" cy="658368"/>
          </a:xfrm>
          <a:prstGeom prst="ellipse">
            <a:avLst/>
          </a:prstGeom>
          <a:solidFill>
            <a:srgbClr val="0A6B4E"/>
          </a:solidFill>
          <a:ln/>
        </p:spPr>
      </p:sp>
      <p:pic>
        <p:nvPicPr>
          <p:cNvPr id="7" name="Image 0" descr="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6496" y="3056656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77647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Output Accurately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4480560"/>
            <a:ext cx="22494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2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hourly solar, wind, and total generation with low RMSE/MAE, as demonstrated by Kinasih et al. (2026).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3511296" y="2606040"/>
            <a:ext cx="2615184" cy="3246120"/>
          </a:xfrm>
          <a:prstGeom prst="roundRect">
            <a:avLst>
              <a:gd name="adj" fmla="val 3147"/>
            </a:avLst>
          </a:prstGeom>
          <a:solidFill>
            <a:srgbClr val="E4F1F8"/>
          </a:solidFill>
          <a:ln/>
        </p:spPr>
      </p:sp>
      <p:sp>
        <p:nvSpPr>
          <p:cNvPr id="11" name="Shape 8"/>
          <p:cNvSpPr/>
          <p:nvPr/>
        </p:nvSpPr>
        <p:spPr>
          <a:xfrm>
            <a:off x="4489704" y="2898648"/>
            <a:ext cx="658368" cy="658368"/>
          </a:xfrm>
          <a:prstGeom prst="ellipse">
            <a:avLst/>
          </a:prstGeom>
          <a:solidFill>
            <a:srgbClr val="1478B0"/>
          </a:solidFill>
          <a:ln/>
        </p:spPr>
      </p:sp>
      <p:pic>
        <p:nvPicPr>
          <p:cNvPr id="12" name="Image 1" descr="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712" y="3056656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75888" y="377647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&amp; Combine Models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694176" y="4480560"/>
            <a:ext cx="22494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2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XGBoost against LightGBM, and explore a stacked hybrid per Raj &amp; Arora (2026).</a:t>
            </a:r>
            <a:endParaRPr lang="en-US" sz="1020" dirty="0"/>
          </a:p>
        </p:txBody>
      </p:sp>
      <p:sp>
        <p:nvSpPr>
          <p:cNvPr id="15" name="Shape 11"/>
          <p:cNvSpPr/>
          <p:nvPr/>
        </p:nvSpPr>
        <p:spPr>
          <a:xfrm>
            <a:off x="6382512" y="2606040"/>
            <a:ext cx="2615184" cy="3246120"/>
          </a:xfrm>
          <a:prstGeom prst="roundRect">
            <a:avLst>
              <a:gd name="adj" fmla="val 3147"/>
            </a:avLst>
          </a:prstGeom>
          <a:solidFill>
            <a:srgbClr val="FCEEDD"/>
          </a:solidFill>
          <a:ln/>
        </p:spPr>
      </p:sp>
      <p:sp>
        <p:nvSpPr>
          <p:cNvPr id="16" name="Shape 12"/>
          <p:cNvSpPr/>
          <p:nvPr/>
        </p:nvSpPr>
        <p:spPr>
          <a:xfrm>
            <a:off x="7360920" y="2898648"/>
            <a:ext cx="658368" cy="658368"/>
          </a:xfrm>
          <a:prstGeom prst="ellipse">
            <a:avLst/>
          </a:prstGeom>
          <a:solidFill>
            <a:srgbClr val="F0862E"/>
          </a:solidFill>
          <a:ln/>
        </p:spPr>
      </p:sp>
      <p:pic>
        <p:nvPicPr>
          <p:cNvPr id="17" name="Image 2" descr="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928" y="3056656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47104" y="377647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Robust Features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565392" y="4480560"/>
            <a:ext cx="22494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2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time-based, rolling-window, and lag features that capture generation drivers.</a:t>
            </a:r>
            <a:endParaRPr lang="en-US" sz="1020" dirty="0"/>
          </a:p>
        </p:txBody>
      </p:sp>
      <p:sp>
        <p:nvSpPr>
          <p:cNvPr id="20" name="Shape 15"/>
          <p:cNvSpPr/>
          <p:nvPr/>
        </p:nvSpPr>
        <p:spPr>
          <a:xfrm>
            <a:off x="9253728" y="2606040"/>
            <a:ext cx="2615184" cy="3246120"/>
          </a:xfrm>
          <a:prstGeom prst="roundRect">
            <a:avLst>
              <a:gd name="adj" fmla="val 3147"/>
            </a:avLst>
          </a:prstGeom>
          <a:solidFill>
            <a:srgbClr val="E4F5EC"/>
          </a:solidFill>
          <a:ln/>
        </p:spPr>
      </p:sp>
      <p:sp>
        <p:nvSpPr>
          <p:cNvPr id="21" name="Shape 16"/>
          <p:cNvSpPr/>
          <p:nvPr/>
        </p:nvSpPr>
        <p:spPr>
          <a:xfrm>
            <a:off x="10232136" y="2898648"/>
            <a:ext cx="658368" cy="658368"/>
          </a:xfrm>
          <a:prstGeom prst="ellipse">
            <a:avLst/>
          </a:prstGeom>
          <a:solidFill>
            <a:srgbClr val="18A672"/>
          </a:solidFill>
          <a:ln/>
        </p:spPr>
      </p:sp>
      <p:pic>
        <p:nvPicPr>
          <p:cNvPr id="22" name="Image 3" descr="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0144" y="3056656"/>
            <a:ext cx="342351" cy="34235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18320" y="377647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Grid Decisions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436608" y="4480560"/>
            <a:ext cx="22494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2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forecasts usable for scheduling, storage dispatch, and market bidding.</a:t>
            </a:r>
            <a:endParaRPr lang="en-US" sz="102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OUTPUT PREDICTION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A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and Feature Engineering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Kinasih et al. (2026): approximately 10,000 hourly, chronologically ordered observations of solar PV, wind, and total renewable output, split 80/20 by timestamp to preserve time-series integrity and avoid data leakage.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3FAF6"/>
          </a:solidFill>
          <a:ln/>
        </p:spPr>
      </p:sp>
      <p:sp>
        <p:nvSpPr>
          <p:cNvPr id="6" name="Shape 4"/>
          <p:cNvSpPr/>
          <p:nvPr/>
        </p:nvSpPr>
        <p:spPr>
          <a:xfrm>
            <a:off x="1965960" y="2651760"/>
            <a:ext cx="777240" cy="777240"/>
          </a:xfrm>
          <a:prstGeom prst="ellipse">
            <a:avLst/>
          </a:prstGeom>
          <a:solidFill>
            <a:srgbClr val="0A6B4E"/>
          </a:solidFill>
          <a:ln/>
        </p:spPr>
      </p:sp>
      <p:pic>
        <p:nvPicPr>
          <p:cNvPr id="7" name="Image 0" descr="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0270" y="2846070"/>
            <a:ext cx="388620" cy="3886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6576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Time-Based Features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96112" y="4251960"/>
            <a:ext cx="291693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of day, day of week, month, day of year, and quarter — capturing diurnal and seasonal cycles.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61688" y="23317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CEEDD"/>
          </a:solidFill>
          <a:ln/>
        </p:spPr>
      </p:sp>
      <p:sp>
        <p:nvSpPr>
          <p:cNvPr id="11" name="Shape 8"/>
          <p:cNvSpPr/>
          <p:nvPr/>
        </p:nvSpPr>
        <p:spPr>
          <a:xfrm>
            <a:off x="5687568" y="2651760"/>
            <a:ext cx="777240" cy="777240"/>
          </a:xfrm>
          <a:prstGeom prst="ellipse">
            <a:avLst/>
          </a:prstGeom>
          <a:solidFill>
            <a:srgbClr val="F0862E"/>
          </a:solidFill>
          <a:ln/>
        </p:spPr>
      </p:sp>
      <p:pic>
        <p:nvPicPr>
          <p:cNvPr id="12" name="Image 1" descr="lay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1878" y="284607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44568" y="36576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Statistics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17720" y="4251960"/>
            <a:ext cx="291693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standard deviation, min, and max over 3-, 6-, 12-, and 24-hour windows for recent trend and volatility.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83296" y="23317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E4F1F8"/>
          </a:solidFill>
          <a:ln/>
        </p:spPr>
      </p:sp>
      <p:sp>
        <p:nvSpPr>
          <p:cNvPr id="16" name="Shape 12"/>
          <p:cNvSpPr/>
          <p:nvPr/>
        </p:nvSpPr>
        <p:spPr>
          <a:xfrm>
            <a:off x="9409176" y="2651760"/>
            <a:ext cx="777240" cy="777240"/>
          </a:xfrm>
          <a:prstGeom prst="ellipse">
            <a:avLst/>
          </a:prstGeom>
          <a:solidFill>
            <a:srgbClr val="1478B0"/>
          </a:solidFill>
          <a:ln/>
        </p:spPr>
      </p:sp>
      <p:pic>
        <p:nvPicPr>
          <p:cNvPr id="17" name="Image 2" descr="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3486" y="2846070"/>
            <a:ext cx="388620" cy="3886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66176" y="36576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 Features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39328" y="4251960"/>
            <a:ext cx="291693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Lag-1, 2, 3, 6, 12, and 24 values — autoregressive signals capturing serial correlation in generation.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rolling and lag features were computed using only information available at or before each prediction point, ensuring no future data leaked into training.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OUTPUT PREDICTION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035040" y="647395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Kinasih et al. (2026)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A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— Extreme Gradient Boosting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291840" cy="4160520"/>
          </a:xfrm>
          <a:prstGeom prst="roundRect">
            <a:avLst>
              <a:gd name="adj" fmla="val 2778"/>
            </a:avLst>
          </a:prstGeom>
          <a:solidFill>
            <a:srgbClr val="E4F5EC"/>
          </a:solidFill>
          <a:ln/>
        </p:spPr>
      </p:sp>
      <p:sp>
        <p:nvSpPr>
          <p:cNvPr id="5" name="Shape 3"/>
          <p:cNvSpPr/>
          <p:nvPr/>
        </p:nvSpPr>
        <p:spPr>
          <a:xfrm>
            <a:off x="1805940" y="1920240"/>
            <a:ext cx="960120" cy="960120"/>
          </a:xfrm>
          <a:prstGeom prst="ellipse">
            <a:avLst/>
          </a:prstGeom>
          <a:solidFill>
            <a:srgbClr val="0A6B4E"/>
          </a:solidFill>
          <a:ln/>
        </p:spPr>
      </p:sp>
      <p:pic>
        <p:nvPicPr>
          <p:cNvPr id="6" name="Image 0" descr="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5970" y="2160270"/>
            <a:ext cx="480060" cy="4800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1089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i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trees,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b="1" i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regularized for precision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3977640"/>
            <a:ext cx="28346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 ensemble of decision trees sequentially, where each new tree corrects the residual errors of the ones before it, using a level-wise (breadth-first) growth strategy.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51960" y="1746504"/>
            <a:ext cx="128016" cy="128016"/>
          </a:xfrm>
          <a:prstGeom prst="ellipse">
            <a:avLst/>
          </a:prstGeom>
          <a:solidFill>
            <a:srgbClr val="0A6B4E"/>
          </a:solidFill>
          <a:ln/>
        </p:spPr>
      </p:sp>
      <p:sp>
        <p:nvSpPr>
          <p:cNvPr id="10" name="Text 7"/>
          <p:cNvSpPr/>
          <p:nvPr/>
        </p:nvSpPr>
        <p:spPr>
          <a:xfrm>
            <a:off x="4526280" y="161848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Regularized Objective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26280" y="1947672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L1/L2 penalties on leaf weights curb overfitting on noisy weather features.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51960" y="2724912"/>
            <a:ext cx="128016" cy="128016"/>
          </a:xfrm>
          <a:prstGeom prst="ellipse">
            <a:avLst/>
          </a:prstGeom>
          <a:solidFill>
            <a:srgbClr val="0A6B4E"/>
          </a:solidFill>
          <a:ln/>
        </p:spPr>
      </p:sp>
      <p:sp>
        <p:nvSpPr>
          <p:cNvPr id="13" name="Text 10"/>
          <p:cNvSpPr/>
          <p:nvPr/>
        </p:nvSpPr>
        <p:spPr>
          <a:xfrm>
            <a:off x="4526280" y="2596896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Handles Missing Values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26280" y="292608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an optimal default split direction for absent sensor readings.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251960" y="3703320"/>
            <a:ext cx="128016" cy="128016"/>
          </a:xfrm>
          <a:prstGeom prst="ellipse">
            <a:avLst/>
          </a:prstGeom>
          <a:solidFill>
            <a:srgbClr val="0A6B4E"/>
          </a:solidFill>
          <a:ln/>
        </p:spPr>
      </p:sp>
      <p:sp>
        <p:nvSpPr>
          <p:cNvPr id="16" name="Text 13"/>
          <p:cNvSpPr/>
          <p:nvPr/>
        </p:nvSpPr>
        <p:spPr>
          <a:xfrm>
            <a:off x="4526280" y="3575304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Model for Wind Output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526280" y="3904488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Kinasih et al. (2026) found XGBoost gave the lowest wind-power RMSE (3.26) and R² of 0.987.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251960" y="4681728"/>
            <a:ext cx="128016" cy="128016"/>
          </a:xfrm>
          <a:prstGeom prst="ellipse">
            <a:avLst/>
          </a:prstGeom>
          <a:solidFill>
            <a:srgbClr val="0A6B4E"/>
          </a:solidFill>
          <a:ln/>
        </p:spPr>
      </p:sp>
      <p:sp>
        <p:nvSpPr>
          <p:cNvPr id="19" name="Text 16"/>
          <p:cNvSpPr/>
          <p:nvPr/>
        </p:nvSpPr>
        <p:spPr>
          <a:xfrm>
            <a:off x="4526280" y="455371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 to Sensor Noise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526280" y="4882896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&amp; Arora (2026) note its regularization prevented overfitting to noisy offshore sensor data in prior studies.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OUTPUT PREDICTION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A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TWO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 — Light Gradient Boosting Machine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746504"/>
            <a:ext cx="128016" cy="128016"/>
          </a:xfrm>
          <a:prstGeom prst="ellipse">
            <a:avLst/>
          </a:prstGeom>
          <a:solidFill>
            <a:srgbClr val="F0862E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1618488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Leaf-wise Growth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32688" y="1947672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the leaf with the highest loss reduction first, reaching lower error faster.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58368" y="2724912"/>
            <a:ext cx="128016" cy="128016"/>
          </a:xfrm>
          <a:prstGeom prst="ellipse">
            <a:avLst/>
          </a:prstGeom>
          <a:solidFill>
            <a:srgbClr val="F0862E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596896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GOSS &amp; EFB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32688" y="292608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Gradient-based One-Side Sampling and Exclusive Feature Bundling cut computation and memory sharply (Raj &amp; Arora, 2026).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3703320"/>
            <a:ext cx="128016" cy="128016"/>
          </a:xfrm>
          <a:prstGeom prst="ellipse">
            <a:avLst/>
          </a:prstGeom>
          <a:solidFill>
            <a:srgbClr val="F0862E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575304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Model for Solar &amp; Total Output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32688" y="3904488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Kinasih et al. (2026) report LightGBM's lowest RMSE for solar PV (3.27) and total renewable energy (4.66).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4681728"/>
            <a:ext cx="128016" cy="128016"/>
          </a:xfrm>
          <a:prstGeom prst="ellipse">
            <a:avLst/>
          </a:prstGeom>
          <a:solidFill>
            <a:srgbClr val="F0862E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455371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Fastest Training Speed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32688" y="4882896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&amp; Arora (2026) estimate a 30–40% training-time reduction versus standard XGBoost — ideal for intra-day updates.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0" y="1600200"/>
            <a:ext cx="3291840" cy="4160520"/>
          </a:xfrm>
          <a:prstGeom prst="roundRect">
            <a:avLst>
              <a:gd name="adj" fmla="val 2778"/>
            </a:avLst>
          </a:prstGeom>
          <a:solidFill>
            <a:srgbClr val="E4F5EC"/>
          </a:solidFill>
          <a:ln/>
        </p:spPr>
      </p:sp>
      <p:sp>
        <p:nvSpPr>
          <p:cNvPr id="17" name="Shape 15"/>
          <p:cNvSpPr/>
          <p:nvPr/>
        </p:nvSpPr>
        <p:spPr>
          <a:xfrm>
            <a:off x="9395460" y="1920240"/>
            <a:ext cx="960120" cy="960120"/>
          </a:xfrm>
          <a:prstGeom prst="ellipse">
            <a:avLst/>
          </a:prstGeom>
          <a:solidFill>
            <a:srgbClr val="F0862E"/>
          </a:solidFill>
          <a:ln/>
        </p:spPr>
      </p:sp>
      <p:pic>
        <p:nvPicPr>
          <p:cNvPr id="18" name="Image 0" descr="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5091" y="2169871"/>
            <a:ext cx="460858" cy="46085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458200" y="31089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i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Speed-optimized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b="1" i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large datasets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458200" y="3977640"/>
            <a:ext cx="28346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some of XGBoost's exhaustive search for leaf-wise growth and histogram binning, often training several times faster with comparable or better accuracy.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OUTPUT PREDICTION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A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THREE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Hybrid Stacking Framework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&amp; Arora (2026) propose combining both algorithms in a stacking regressor: XGBoost and LightGBM act as base learners, and a secondary optimized XGBoost model serves as the meta-learner that weighs their predictions.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463040" y="26060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E4F5EC"/>
          </a:solidFill>
          <a:ln w="12700">
            <a:solidFill>
              <a:srgbClr val="0A6B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26060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Learner 1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0" y="26060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E4F5EC"/>
          </a:solidFill>
          <a:ln w="12700">
            <a:solidFill>
              <a:srgbClr val="F086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26060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Learner 2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3474720"/>
            <a:ext cx="1783080" cy="502920"/>
          </a:xfrm>
          <a:prstGeom prst="line">
            <a:avLst/>
          </a:prstGeom>
          <a:noFill/>
          <a:ln w="19050">
            <a:solidFill>
              <a:srgbClr val="D9E8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3474720"/>
            <a:ext cx="-1783080" cy="502920"/>
          </a:xfrm>
          <a:prstGeom prst="line">
            <a:avLst/>
          </a:prstGeom>
          <a:noFill/>
          <a:ln w="19050">
            <a:solidFill>
              <a:srgbClr val="D9E8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39776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1478B0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39776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Meta-Learner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(Optimized XGBoost)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720" y="4846320"/>
            <a:ext cx="0" cy="411480"/>
          </a:xfrm>
          <a:prstGeom prst="line">
            <a:avLst/>
          </a:prstGeom>
          <a:noFill/>
          <a:ln w="19050">
            <a:solidFill>
              <a:srgbClr val="D9E8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71800" y="5257800"/>
            <a:ext cx="3291840" cy="685800"/>
          </a:xfrm>
          <a:prstGeom prst="roundRect">
            <a:avLst>
              <a:gd name="adj" fmla="val 10667"/>
            </a:avLst>
          </a:prstGeom>
          <a:solidFill>
            <a:srgbClr val="F0862E"/>
          </a:solidFill>
          <a:ln/>
        </p:spPr>
      </p:sp>
      <p:sp>
        <p:nvSpPr>
          <p:cNvPr id="15" name="Text 13"/>
          <p:cNvSpPr/>
          <p:nvPr/>
        </p:nvSpPr>
        <p:spPr>
          <a:xfrm>
            <a:off x="2971800" y="52578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Renewable-Output Forecast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26060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6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Hyperparameter Search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0" y="2898648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Tunes learning rate, depth, and regularization more efficiently than grid search.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8229600" y="39776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46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Reported Gain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0" y="4270248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comparable stacked hybrid cut MAPE by 12% versus either standalone model (Wang &amp; Liu, 2022, cited in Raj &amp; Arora, 2026).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8229600" y="53492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5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0" y="5641848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&amp; Arora (2026) anticipate hybrid R² exceeding 0.92 for short-term solar forecasting — framed as a hypothesized target, not a measured result.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OUTPUT PREDICTION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A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Models Were Trained and Evaluated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(Kinasih et al., 2026)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075688"/>
            <a:ext cx="100584" cy="100584"/>
          </a:xfrm>
          <a:prstGeom prst="ellipse">
            <a:avLst/>
          </a:prstGeom>
          <a:solidFill>
            <a:srgbClr val="0A6B4E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65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3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~10,000 hourly observations, split 80/20 chronologically (train on the past, test on the future).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658368" y="2734056"/>
            <a:ext cx="100584" cy="100584"/>
          </a:xfrm>
          <a:prstGeom prst="ellipse">
            <a:avLst/>
          </a:prstGeom>
          <a:solidFill>
            <a:srgbClr val="0A6B4E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62432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3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Intel Core i7, 16 GB RAM, Python 3.11.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658368" y="3392424"/>
            <a:ext cx="100584" cy="100584"/>
          </a:xfrm>
          <a:prstGeom prst="ellipse">
            <a:avLst/>
          </a:prstGeom>
          <a:solidFill>
            <a:srgbClr val="0A6B4E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328269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3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Libraries: scikit-learn, TensorFlow, XGBoost, LightGBM.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658368" y="4050792"/>
            <a:ext cx="100584" cy="100584"/>
          </a:xfrm>
          <a:prstGeom prst="ellipse">
            <a:avLst/>
          </a:prstGeom>
          <a:solidFill>
            <a:srgbClr val="0A6B4E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941064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3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 tuned via grid search: learning rate, tree depth, estimators, subsample ratio.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035040" y="1600200"/>
            <a:ext cx="0" cy="4206240"/>
          </a:xfrm>
          <a:prstGeom prst="line">
            <a:avLst/>
          </a:prstGeom>
          <a:noFill/>
          <a:ln w="12700">
            <a:solidFill>
              <a:srgbClr val="D9E8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57276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55080" y="2011680"/>
            <a:ext cx="5166360" cy="932688"/>
          </a:xfrm>
          <a:prstGeom prst="roundRect">
            <a:avLst>
              <a:gd name="adj" fmla="val 6863"/>
            </a:avLst>
          </a:prstGeom>
          <a:solidFill>
            <a:srgbClr val="F3FAF6"/>
          </a:solidFill>
          <a:ln w="9525">
            <a:solidFill>
              <a:srgbClr val="D9E8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084832"/>
            <a:ext cx="1280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6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18120" y="2084832"/>
            <a:ext cx="3566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 — penalizes large errors heavily; critical where big misses cause grid instability.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55080" y="3108960"/>
            <a:ext cx="5166360" cy="932688"/>
          </a:xfrm>
          <a:prstGeom prst="roundRect">
            <a:avLst>
              <a:gd name="adj" fmla="val 6863"/>
            </a:avLst>
          </a:prstGeom>
          <a:solidFill>
            <a:srgbClr val="FCEEDD"/>
          </a:solidFill>
          <a:ln w="9525">
            <a:solidFill>
              <a:srgbClr val="D9E8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182112"/>
            <a:ext cx="1280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6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18120" y="3182112"/>
            <a:ext cx="3566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 — a linear, outlier-robust measure of average prediction quality.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55080" y="4206240"/>
            <a:ext cx="5166360" cy="932688"/>
          </a:xfrm>
          <a:prstGeom prst="roundRect">
            <a:avLst>
              <a:gd name="adj" fmla="val 6863"/>
            </a:avLst>
          </a:prstGeom>
          <a:solidFill>
            <a:srgbClr val="E4F1F8"/>
          </a:solidFill>
          <a:ln w="9525">
            <a:solidFill>
              <a:srgbClr val="D9E8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4279392"/>
            <a:ext cx="1280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5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818120" y="4279392"/>
            <a:ext cx="3566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determination — share of variance explained; 1.0 is perfect, 0 matches the mean, negative is worse than the mean.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OUTPUT PREDICTION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A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Empirical Performance (Kinasih et al., 2026)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6858000" cy="4160520"/>
        </p:xfrm>
        <a:graphic>
          <a:graphicData uri="http://schemas.openxmlformats.org/drawingml/2006/table">
            <a:tbl>
              <a:tblPr/>
              <a:tblGrid>
                <a:gridCol w="2331720"/>
                <a:gridCol w="1371600"/>
                <a:gridCol w="1051560"/>
                <a:gridCol w="1051560"/>
                <a:gridCol w="1051560"/>
              </a:tblGrid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Variable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B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B4E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PV 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PV 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6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PV 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4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4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14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 Power 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6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 Power 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 Power 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4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4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14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6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Renewable Energy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Renewable Energy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6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Renewable Energy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4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4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14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508760"/>
            <a:ext cx="3749040" cy="1463040"/>
          </a:xfrm>
          <a:prstGeom prst="roundRect">
            <a:avLst>
              <a:gd name="adj" fmla="val 5625"/>
            </a:avLst>
          </a:prstGeom>
          <a:solidFill>
            <a:srgbClr val="E4F5EC"/>
          </a:solidFill>
          <a:ln/>
        </p:spPr>
      </p:sp>
      <p:sp>
        <p:nvSpPr>
          <p:cNvPr id="6" name="Shape 3"/>
          <p:cNvSpPr/>
          <p:nvPr/>
        </p:nvSpPr>
        <p:spPr>
          <a:xfrm>
            <a:off x="8028432" y="1691640"/>
            <a:ext cx="530352" cy="530352"/>
          </a:xfrm>
          <a:prstGeom prst="ellipse">
            <a:avLst/>
          </a:prstGeom>
          <a:solidFill>
            <a:srgbClr val="0A6B4E"/>
          </a:solidFill>
          <a:ln/>
        </p:spPr>
      </p:sp>
      <p:pic>
        <p:nvPicPr>
          <p:cNvPr id="7" name="Image 0" descr="me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1020" y="1824228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0" y="16276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0.986 – 0.988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8686800" y="2084832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range for XGBoost &amp; LightGBM across every target</a:t>
            </a:r>
            <a:endParaRPr lang="en-US" sz="970" dirty="0"/>
          </a:p>
        </p:txBody>
      </p:sp>
      <p:sp>
        <p:nvSpPr>
          <p:cNvPr id="10" name="Shape 6"/>
          <p:cNvSpPr/>
          <p:nvPr/>
        </p:nvSpPr>
        <p:spPr>
          <a:xfrm>
            <a:off x="7818120" y="3108960"/>
            <a:ext cx="3749040" cy="1463040"/>
          </a:xfrm>
          <a:prstGeom prst="roundRect">
            <a:avLst>
              <a:gd name="adj" fmla="val 5625"/>
            </a:avLst>
          </a:prstGeom>
          <a:solidFill>
            <a:srgbClr val="F7EAE5"/>
          </a:solidFill>
          <a:ln/>
        </p:spPr>
      </p:sp>
      <p:sp>
        <p:nvSpPr>
          <p:cNvPr id="11" name="Shape 7"/>
          <p:cNvSpPr/>
          <p:nvPr/>
        </p:nvSpPr>
        <p:spPr>
          <a:xfrm>
            <a:off x="8028432" y="3291840"/>
            <a:ext cx="530352" cy="530352"/>
          </a:xfrm>
          <a:prstGeom prst="ellipse">
            <a:avLst/>
          </a:prstGeom>
          <a:solidFill>
            <a:srgbClr val="D1483A"/>
          </a:solidFill>
          <a:ln/>
        </p:spPr>
      </p:sp>
      <p:pic>
        <p:nvPicPr>
          <p:cNvPr id="12" name="Image 1" descr="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020" y="3424428"/>
            <a:ext cx="265176" cy="2651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86800" y="32278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14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−0.024 to −0.083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8686800" y="3685032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R² across all targets — worse than predicting the mean</a:t>
            </a:r>
            <a:endParaRPr lang="en-US" sz="970" dirty="0"/>
          </a:p>
        </p:txBody>
      </p:sp>
      <p:sp>
        <p:nvSpPr>
          <p:cNvPr id="15" name="Shape 10"/>
          <p:cNvSpPr/>
          <p:nvPr/>
        </p:nvSpPr>
        <p:spPr>
          <a:xfrm>
            <a:off x="7818120" y="4709160"/>
            <a:ext cx="3749040" cy="960120"/>
          </a:xfrm>
          <a:prstGeom prst="roundRect">
            <a:avLst>
              <a:gd name="adj" fmla="val 8571"/>
            </a:avLst>
          </a:prstGeom>
          <a:solidFill>
            <a:srgbClr val="E4F1F8"/>
          </a:solidFill>
          <a:ln w="9525">
            <a:solidFill>
              <a:srgbClr val="D9E8E1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001000" y="4773168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i="1" dirty="0">
                <a:solidFill>
                  <a:srgbClr val="0D5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error rates were roughly 8–10× lower than LSTM across all three forecasting targets.</a:t>
            </a:r>
            <a:endParaRPr lang="en-US" sz="980" dirty="0"/>
          </a:p>
        </p:txBody>
      </p:sp>
      <p:sp>
        <p:nvSpPr>
          <p:cNvPr id="17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OUTPUT PREDICTION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A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Gradient Boosting Wins Here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3FAF6"/>
          </a:solidFill>
          <a:ln w="9525">
            <a:solidFill>
              <a:srgbClr val="D9E8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74520"/>
            <a:ext cx="548640" cy="548640"/>
          </a:xfrm>
          <a:prstGeom prst="ellipse">
            <a:avLst/>
          </a:prstGeom>
          <a:solidFill>
            <a:srgbClr val="0A6B4E"/>
          </a:solidFill>
          <a:ln/>
        </p:spPr>
      </p:sp>
      <p:pic>
        <p:nvPicPr>
          <p:cNvPr id="6" name="Image 0" descr="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116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9344" y="1920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Boosting's Advantages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606040"/>
            <a:ext cx="228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70432" y="260604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tabular features (time, rolling, lag) suit axis-aligned tree splits naturally.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14400" y="3657600"/>
            <a:ext cx="228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70432" y="365760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pre-encodes temporal patterns, substituting for sequence learning.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14400" y="4709160"/>
            <a:ext cx="228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70432" y="470916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regularization performs well on moderate-sized datasets (~10K rows).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63640" y="160020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7EAE5"/>
          </a:solidFill>
          <a:ln w="9525">
            <a:solidFill>
              <a:srgbClr val="D9E8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37960" y="1874520"/>
            <a:ext cx="548640" cy="548640"/>
          </a:xfrm>
          <a:prstGeom prst="ellipse">
            <a:avLst/>
          </a:prstGeom>
          <a:solidFill>
            <a:srgbClr val="D1483A"/>
          </a:solidFill>
          <a:ln/>
        </p:spPr>
      </p:sp>
      <p:pic>
        <p:nvPicPr>
          <p:cNvPr id="16" name="Image 1" descr="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32904" y="1920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LSTM Underperformed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537960" y="2606040"/>
            <a:ext cx="228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1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793992" y="260604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LSTMs typically need tens of thousands of samples; ~10,000 rows may be insufficient.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6537960" y="3657600"/>
            <a:ext cx="228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1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793992" y="365760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Heavily engineered features may duplicate what LSTM's gates already try to learn, adding redundancy.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537960" y="4709160"/>
            <a:ext cx="228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1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793992" y="470916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LSTMs are highly sensitive to architecture and hyperparameters; the baseline used limited tuning.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source studies caution against over-generalizing: with larger datasets and systematic tuning, deep learning and hybrid approaches may close this gap.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OUTPUT PREDICTION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A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and 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3FAF6"/>
          </a:solidFill>
          <a:ln w="9525">
            <a:solidFill>
              <a:srgbClr val="D9E8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20240"/>
            <a:ext cx="566928" cy="566928"/>
          </a:xfrm>
          <a:prstGeom prst="ellipse">
            <a:avLst/>
          </a:prstGeom>
          <a:solidFill>
            <a:srgbClr val="0A6B4E"/>
          </a:solidFill>
          <a:ln/>
        </p:spPr>
      </p:sp>
      <p:pic>
        <p:nvPicPr>
          <p:cNvPr id="6" name="Image 0" descr="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" y="206197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197510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228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70432" y="269748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led for solar PV and total renewable energy; XGBoost led for wind output (Kinasih et al., 2026).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14400" y="3794760"/>
            <a:ext cx="228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70432" y="379476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gradient boosting models scored R² of 0.986–0.988, while LSTM was consistently negative.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14400" y="4892040"/>
            <a:ext cx="228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70432" y="489204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stacked XGBoost + LightGBM hybrid may push accuracy further, per Raj &amp; Arora (2026).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63640" y="164592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E4F5EC"/>
          </a:solidFill>
          <a:ln w="9525">
            <a:solidFill>
              <a:srgbClr val="D9E8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37960" y="1920240"/>
            <a:ext cx="566928" cy="566928"/>
          </a:xfrm>
          <a:prstGeom prst="ellipse">
            <a:avLst/>
          </a:prstGeom>
          <a:solidFill>
            <a:srgbClr val="F0862E"/>
          </a:solidFill>
          <a:ln/>
        </p:spPr>
      </p:sp>
      <p:pic>
        <p:nvPicPr>
          <p:cNvPr id="16" name="Image 1" descr="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692" y="2061972"/>
            <a:ext cx="283464" cy="2834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51192" y="197510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537960" y="2697480"/>
            <a:ext cx="228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793992" y="269748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hyperparameter search and larger datasets for a fairer LSTM comparison.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6537960" y="3794760"/>
            <a:ext cx="228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793992" y="379476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or blended ensembles combining boosting and deep learning (both studies flag this).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537960" y="4892040"/>
            <a:ext cx="228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793992" y="489204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exogenous weather, satellite irradiance, and Transformer-based architectures.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OUTPUT PREDICTION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2026-08-28T03:50:45Z</dcterms:created>
  <dcterms:modified xsi:type="dcterms:W3CDTF">2026-08-28T03:50:45Z</dcterms:modified>
</cp:coreProperties>
</file>